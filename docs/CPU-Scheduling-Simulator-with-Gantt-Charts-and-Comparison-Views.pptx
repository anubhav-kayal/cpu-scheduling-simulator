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bin" pitchFamily="2" charset="77"/>
      <p:regular r:id="rId13"/>
    </p:embeddedFont>
    <p:embeddedFont>
      <p:font typeface="Cabin Bold" pitchFamily="2" charset="77"/>
      <p:regular r:id="rId14"/>
      <p:bold r:id="rId15"/>
    </p:embeddedFont>
    <p:embeddedFont>
      <p:font typeface="Cabin Medium" pitchFamily="2" charset="77"/>
      <p:regular r:id="rId16"/>
    </p:embeddedFont>
    <p:embeddedFont>
      <p:font typeface="Cabin SemiBold" pitchFamily="2" charset="77"/>
      <p:regular r:id="rId17"/>
      <p:bold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Unbounded Medium" pitchFamily="2" charset="77"/>
      <p:regular r:id="rId23"/>
    </p:embeddedFont>
    <p:embeddedFont>
      <p:font typeface="Unbounded SemiBold" pitchFamily="2" charset="77"/>
      <p:regular r:id="rId24"/>
      <p:bold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27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4495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Python desktop application that simulates six CPU scheduling algorithms, plots real-time Gantt charts, and computes comparative metrics on identical workloads.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fundamental division: non-preemptive policies allow a process to hold the CPU until completion or I/O, whereas preemptive policies allow dynamic context switches upon new arrivals or time quantum expiration.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user journey: input validation prevents invalid integers or duplicate process IDs. Once scheduled, the view instantly populates both a visual timeline and a per-process accounting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critical software engineering strength: the core logic has zero GUI imports, enabling headless unit and integration testing inside Pytest before visual rendering.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standard metric. Emphasize that while Turnaround and Waiting coincide on simple non-preemptive setups, Response Time critically diverges under preemptive policies like Round Robin.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Gantt charts: in FCFS, P1 hogs the CPU until t=5. In SRTF, P2 preempts P1 at t=1 because remaining time 3 is less than 4. In Round Robin, all processes make steady incremental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trade-off clearly: SRTF mathematically minimizes waiting time for this batch (3.00), but Round Robin provides superior interactive responsiveness (1.00 response time) at the expense of higher overall waiting.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test rigor: edge cases like identical arrival times and CPU idle gaps are covered in 39 automated Pytest cases. Concurrently, acknowledge realistic constraints like idealized zero-cost context switches.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the presentation by summarizing delivery milestones, acknowledging authoritative academic literature, and opening the floor for faculty evaluation and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128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715963"/>
            <a:ext cx="116329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OPERATING SYSTEMS · COURSE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786" y="1015422"/>
            <a:ext cx="11074123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000" kern="100" spc="-4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0"/>
              </a:rPr>
              <a:t>CPU Scheduling Simulator with Gantt Charts &amp; Comparison Views</a:t>
            </a:r>
            <a:endParaRPr lang="en-US" sz="4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2305050"/>
            <a:ext cx="11074123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8786" y="2914967"/>
            <a:ext cx="11074123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0"/>
              </a:rPr>
              <a:t>An Interactive Tool for Understanding CPU Scheduling Algorithms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786" y="3459460"/>
            <a:ext cx="11074123" cy="143797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8786" y="5084445"/>
            <a:ext cx="369134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A9BFC9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Project Team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58786" y="5400278"/>
            <a:ext cx="346274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Anubhav Kayal (24BCE2204)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Inesh Ingid (24BCE0407)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Yash Pandey (24BCE0398)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478722" y="5084445"/>
            <a:ext cx="346274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A9BFC9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Faculty &amp; Course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478722" y="5400278"/>
            <a:ext cx="323415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Dr. Niha K Basha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Operating Systems (Python Desktop App)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170063" y="5084445"/>
            <a:ext cx="346284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A9BFC9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Institution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170063" y="5400278"/>
            <a:ext cx="346284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Vellore Institute of Technology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Vellore Campus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243777" y="5081588"/>
            <a:ext cx="12700" cy="1065213"/>
          </a:xfrm>
          <a:prstGeom prst="rect">
            <a:avLst/>
          </a:prstGeom>
          <a:solidFill>
            <a:srgbClr val="2E55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935119" y="5081588"/>
            <a:ext cx="12700" cy="1065213"/>
          </a:xfrm>
          <a:prstGeom prst="rect">
            <a:avLst/>
          </a:prstGeom>
          <a:solidFill>
            <a:srgbClr val="2E55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4DAEA9-8407-87D4-4790-0FA342482508}"/>
              </a:ext>
            </a:extLst>
          </p:cNvPr>
          <p:cNvSpPr/>
          <p:nvPr/>
        </p:nvSpPr>
        <p:spPr>
          <a:xfrm>
            <a:off x="11014841" y="6568966"/>
            <a:ext cx="1176854" cy="289034"/>
          </a:xfrm>
          <a:prstGeom prst="rect">
            <a:avLst/>
          </a:prstGeom>
          <a:solidFill>
            <a:srgbClr val="1127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83416"/>
            <a:ext cx="11074123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0"/>
              </a:rPr>
              <a:t>Hand-drawn Gantt charts are slow and easy to get wrong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1610320"/>
            <a:ext cx="11074123" cy="254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8786" y="2048470"/>
            <a:ext cx="4307772" cy="3059212"/>
          </a:xfrm>
          <a:custGeom>
            <a:avLst/>
            <a:gdLst/>
            <a:ahLst/>
            <a:cxnLst/>
            <a:rect l="l" t="t" r="r" b="b"/>
            <a:pathLst>
              <a:path w="4307772" h="3059212">
                <a:moveTo>
                  <a:pt x="304792" y="0"/>
                </a:moveTo>
                <a:lnTo>
                  <a:pt x="4002980" y="0"/>
                </a:lnTo>
                <a:arcTo wR="304792" hR="304800" stAng="16200000" swAng="5400000"/>
                <a:lnTo>
                  <a:pt x="4307772" y="2754412"/>
                </a:lnTo>
                <a:arcTo wR="304792" hR="304800" stAng="0" swAng="5400000"/>
                <a:lnTo>
                  <a:pt x="76198" y="3059212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1C36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87380" y="2286278"/>
            <a:ext cx="3850583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0"/>
              </a:rPr>
              <a:t>The Challenge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87380" y="2786261"/>
            <a:ext cx="3850583" cy="2092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CPU scheduling decides which process gets CPU time, and when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Manual Gantt charts and metric calculations are time-consuming and error-prone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Preemption and multi-algorithm comparison add complexity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171251" y="2286278"/>
            <a:ext cx="6461658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0"/>
              </a:rPr>
              <a:t>Objectives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171251" y="2786261"/>
            <a:ext cx="6461658" cy="1625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Implement six scheduling policies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Generate Gantt charts automatically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Calculate per-process and average metrics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Compare algorithms on identical inputs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Ensure reliability through modular code and automated tests</a:t>
            </a:r>
            <a:endParaRPr lang="en-US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0A418-F1FA-D19E-4E03-166E7ADD11F7}"/>
              </a:ext>
            </a:extLst>
          </p:cNvPr>
          <p:cNvSpPr/>
          <p:nvPr/>
        </p:nvSpPr>
        <p:spPr>
          <a:xfrm>
            <a:off x="11014841" y="6568966"/>
            <a:ext cx="1176854" cy="289034"/>
          </a:xfrm>
          <a:prstGeom prst="rect">
            <a:avLst/>
          </a:prstGeom>
          <a:solidFill>
            <a:srgbClr val="1127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157163"/>
            <a:ext cx="116837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SCHEDULING POLICIES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87" y="451666"/>
            <a:ext cx="11175720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0"/>
              </a:rPr>
              <a:t>Six algorithms, three of them preemptive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1103610"/>
            <a:ext cx="11175720" cy="25400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87" y="2144613"/>
          <a:ext cx="6884915" cy="3773889"/>
        </p:xfrm>
        <a:graphic>
          <a:graphicData uri="http://schemas.openxmlformats.org/drawingml/2006/table">
            <a:tbl>
              <a:tblPr/>
              <a:tblGrid>
                <a:gridCol w="1790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4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9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Algorithm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Scheduling rule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Preemption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FCFS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Earliest arrival first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A9BFC9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No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SJF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Shortest available burst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A9BFC9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No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SRTF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Shortest remaining time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43D4C3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Yes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41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Priority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Highest priority first (lower number = higher priority)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A9BFC9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No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41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Preemptive Priority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Re-evaluate priority as processes arrive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43D4C3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Yes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69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Round Robin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Fixed time quantum per turn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43D4C3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Yes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697595" y="1916013"/>
            <a:ext cx="3986113" cy="4231184"/>
          </a:xfrm>
          <a:custGeom>
            <a:avLst/>
            <a:gdLst/>
            <a:ahLst/>
            <a:cxnLst/>
            <a:rect l="l" t="t" r="r" b="b"/>
            <a:pathLst>
              <a:path w="3986113" h="4231184">
                <a:moveTo>
                  <a:pt x="304792" y="0"/>
                </a:moveTo>
                <a:lnTo>
                  <a:pt x="3681320" y="0"/>
                </a:lnTo>
                <a:arcTo wR="304792" hR="304800" stAng="16200000" swAng="5400000"/>
                <a:lnTo>
                  <a:pt x="3986113" y="3926384"/>
                </a:lnTo>
                <a:arcTo wR="304792" hR="304800" stAng="0" swAng="5400000"/>
                <a:lnTo>
                  <a:pt x="76198" y="4231184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1C36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7976988" y="2176681"/>
            <a:ext cx="342732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0"/>
              </a:rPr>
              <a:t>Execution Mechanics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976988" y="2613223"/>
            <a:ext cx="37067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9BE15D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Illustrative Mini-Timelines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6988" y="2989064"/>
            <a:ext cx="3427327" cy="12898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76988" y="4402415"/>
            <a:ext cx="3427327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Lower numerical value represents higher priority level across priority algorithms.</a:t>
            </a:r>
            <a:endParaRPr lang="en-US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0EB9BC-B48E-0B61-0D86-30D8CECE8B3F}"/>
              </a:ext>
            </a:extLst>
          </p:cNvPr>
          <p:cNvSpPr/>
          <p:nvPr/>
        </p:nvSpPr>
        <p:spPr>
          <a:xfrm>
            <a:off x="11014841" y="6568966"/>
            <a:ext cx="1176854" cy="289034"/>
          </a:xfrm>
          <a:prstGeom prst="rect">
            <a:avLst/>
          </a:prstGeom>
          <a:solidFill>
            <a:srgbClr val="1127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11163"/>
            <a:ext cx="116329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GUI &amp;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786" y="705666"/>
            <a:ext cx="11074123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0"/>
              </a:rPr>
              <a:t>A Tkinter app that takes processes in and puts a Gantt chart out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1832570"/>
            <a:ext cx="11074123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8786" y="2643604"/>
            <a:ext cx="1163290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Process input form with validation · Algorithm selection and simulation.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58786" y="3100784"/>
            <a:ext cx="11074123" cy="2798862"/>
          </a:xfrm>
          <a:custGeom>
            <a:avLst/>
            <a:gdLst/>
            <a:ahLst/>
            <a:cxnLst/>
            <a:rect l="l" t="t" r="r" b="b"/>
            <a:pathLst>
              <a:path w="11074123" h="2798862">
                <a:moveTo>
                  <a:pt x="304792" y="0"/>
                </a:moveTo>
                <a:lnTo>
                  <a:pt x="10769331" y="0"/>
                </a:lnTo>
                <a:arcTo wR="304792" hR="304800" stAng="16200000" swAng="5400000"/>
                <a:lnTo>
                  <a:pt x="11074123" y="2494062"/>
                </a:lnTo>
                <a:arcTo wR="304792" hR="304800" stAng="0" swAng="5400000"/>
                <a:lnTo>
                  <a:pt x="76198" y="2798862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1C36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12780" y="3283347"/>
            <a:ext cx="108201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INTERACTIVE EXECUTION PIPELINE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780" y="3589734"/>
            <a:ext cx="82428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12780" y="3882152"/>
            <a:ext cx="256533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0"/>
              </a:rPr>
              <a:t>Enter Processes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530512" y="3589734"/>
            <a:ext cx="85961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0"/>
              </a:rPr>
              <a:t>02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530512" y="3882152"/>
            <a:ext cx="248913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0"/>
              </a:rPr>
              <a:t>Validate Input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172046" y="3589734"/>
            <a:ext cx="86209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0"/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172046" y="3882152"/>
            <a:ext cx="248913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0"/>
              </a:rPr>
              <a:t>Select Algorithm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813580" y="3589734"/>
            <a:ext cx="87548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0"/>
              </a:rPr>
              <a:t>04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813580" y="3882152"/>
            <a:ext cx="256533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0"/>
              </a:rPr>
              <a:t>Execute Scheduler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12780" y="4325045"/>
            <a:ext cx="86189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0"/>
              </a:rPr>
              <a:t>05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12780" y="4617462"/>
            <a:ext cx="256533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0"/>
              </a:rPr>
              <a:t>Generate Timeline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530512" y="4325045"/>
            <a:ext cx="86705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0"/>
              </a:rPr>
              <a:t>06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530512" y="4617462"/>
            <a:ext cx="248913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0"/>
              </a:rPr>
              <a:t>Calculate Metrics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172046" y="4325045"/>
            <a:ext cx="8547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0"/>
              </a:rPr>
              <a:t>07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172046" y="4617462"/>
            <a:ext cx="248913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0"/>
              </a:rPr>
              <a:t>Display Results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813580" y="4325045"/>
            <a:ext cx="87528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0"/>
              </a:rPr>
              <a:t>08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813580" y="4617462"/>
            <a:ext cx="256533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0"/>
              </a:rPr>
              <a:t>Compare Algorithms (optional)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12780" y="5328622"/>
            <a:ext cx="10566136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Invalid input: error message, then back to input. Automatic Gantt chart, including CPU idle periods. Results table: arrival, burst, start, completion, waiting, turnaround, response. Comparison dashboard across all six algorithms.</a:t>
            </a:r>
            <a:endParaRPr lang="en-US" sz="12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2860A0B-7E76-AC42-CAFD-D99B37602C2F}"/>
              </a:ext>
            </a:extLst>
          </p:cNvPr>
          <p:cNvSpPr/>
          <p:nvPr/>
        </p:nvSpPr>
        <p:spPr>
          <a:xfrm>
            <a:off x="11014841" y="6568966"/>
            <a:ext cx="1176854" cy="289034"/>
          </a:xfrm>
          <a:prstGeom prst="rect">
            <a:avLst/>
          </a:prstGeom>
          <a:solidFill>
            <a:srgbClr val="1127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11163"/>
            <a:ext cx="116329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MODULAR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786" y="705666"/>
            <a:ext cx="11074123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0"/>
              </a:rPr>
              <a:t>A scheduling core that tests without the GUI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1832570"/>
            <a:ext cx="11074123" cy="254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8786" y="2413695"/>
            <a:ext cx="6724085" cy="1779191"/>
          </a:xfrm>
          <a:custGeom>
            <a:avLst/>
            <a:gdLst/>
            <a:ahLst/>
            <a:cxnLst/>
            <a:rect l="l" t="t" r="r" b="b"/>
            <a:pathLst>
              <a:path w="6724085" h="1779191">
                <a:moveTo>
                  <a:pt x="304792" y="0"/>
                </a:moveTo>
                <a:lnTo>
                  <a:pt x="6419293" y="0"/>
                </a:lnTo>
                <a:arcTo wR="304792" hR="304800" stAng="16200000" swAng="5400000"/>
                <a:lnTo>
                  <a:pt x="6724085" y="1474391"/>
                </a:lnTo>
                <a:arcTo wR="304792" hR="304800" stAng="0" swAng="5400000"/>
                <a:lnTo>
                  <a:pt x="76198" y="1779191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1C36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12780" y="2570857"/>
            <a:ext cx="647009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9BE15D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GUI LAYER (TKINTER / MATPLOTLIB)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2780" y="2882324"/>
            <a:ext cx="6216098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highlight>
                  <a:srgbClr val="1C3645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input_form.py</a:t>
            </a: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 — Input and validation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highlight>
                  <a:srgbClr val="1C3645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gantt_chart.py</a:t>
            </a: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 — Matplotlib timeline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highlight>
                  <a:srgbClr val="1C3645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comparison_view.py</a:t>
            </a: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 — Comparison graphs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highlight>
                  <a:srgbClr val="1C3645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app.py</a:t>
            </a: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 — Main window and tabs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58786" y="4497685"/>
            <a:ext cx="6724085" cy="1779191"/>
          </a:xfrm>
          <a:custGeom>
            <a:avLst/>
            <a:gdLst/>
            <a:ahLst/>
            <a:cxnLst/>
            <a:rect l="l" t="t" r="r" b="b"/>
            <a:pathLst>
              <a:path w="6724085" h="1779191">
                <a:moveTo>
                  <a:pt x="304792" y="0"/>
                </a:moveTo>
                <a:lnTo>
                  <a:pt x="6419293" y="0"/>
                </a:lnTo>
                <a:arcTo wR="304792" hR="304800" stAng="16200000" swAng="5400000"/>
                <a:lnTo>
                  <a:pt x="6724085" y="1474391"/>
                </a:lnTo>
                <a:arcTo wR="304792" hR="304800" stAng="0" swAng="5400000"/>
                <a:lnTo>
                  <a:pt x="76198" y="1779191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1C36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12780" y="4654848"/>
            <a:ext cx="647009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SCHEDULING CORE (DECOUPLED · NO GUI DEPENDENCIES)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2780" y="4966315"/>
            <a:ext cx="6216098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C3645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models.py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 — Process data model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C3645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algorithms/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 — Scheduling implementations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C3645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scheduler.py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 — Algorithm selection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C3645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metrics.py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 — Performance calculations and rankings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39960" y="3381673"/>
            <a:ext cx="389294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TECHNOLOGY STACK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39960" y="3688060"/>
            <a:ext cx="3892949" cy="1625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Python 3.11+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 — Modern core typing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Tkinter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 — Native desktop framework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Matplotlib 3.7+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 — Canvas visualization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Pytest 7.4+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 — Headless test runner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Git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 — Version-controlled workflow</a:t>
            </a:r>
            <a:endParaRPr lang="en-US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B921A7-0C1C-F252-40A6-EDB920BA6917}"/>
              </a:ext>
            </a:extLst>
          </p:cNvPr>
          <p:cNvSpPr/>
          <p:nvPr/>
        </p:nvSpPr>
        <p:spPr>
          <a:xfrm>
            <a:off x="11014841" y="6568966"/>
            <a:ext cx="1176854" cy="289034"/>
          </a:xfrm>
          <a:prstGeom prst="rect">
            <a:avLst/>
          </a:prstGeom>
          <a:solidFill>
            <a:srgbClr val="1127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85763"/>
            <a:ext cx="116837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EVALUATION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87" y="680266"/>
            <a:ext cx="11175720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0"/>
              </a:rPr>
              <a:t>Five metrics measure efficiency and responsiveness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1807170"/>
            <a:ext cx="11175720" cy="254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7987" y="2430463"/>
            <a:ext cx="3366210" cy="1762423"/>
          </a:xfrm>
          <a:custGeom>
            <a:avLst/>
            <a:gdLst/>
            <a:ahLst/>
            <a:cxnLst/>
            <a:rect l="l" t="t" r="r" b="b"/>
            <a:pathLst>
              <a:path w="3366210" h="1762423">
                <a:moveTo>
                  <a:pt x="304792" y="0"/>
                </a:moveTo>
                <a:lnTo>
                  <a:pt x="3061417" y="0"/>
                </a:lnTo>
                <a:arcTo wR="304792" hR="304800" stAng="16200000" swAng="5400000"/>
                <a:lnTo>
                  <a:pt x="3366210" y="1457623"/>
                </a:lnTo>
                <a:arcTo wR="304792" hR="304800" stAng="0" swAng="5400000"/>
                <a:lnTo>
                  <a:pt x="76198" y="1762423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1C36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11182" y="2589530"/>
            <a:ext cx="295982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0"/>
              </a:rPr>
              <a:t>Turnaround Time (TAT)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11182" y="3026073"/>
            <a:ext cx="295982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Turnaround Time = Completion Time − Arrival Time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11182" y="3647261"/>
            <a:ext cx="316301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Total duration spent in the system.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026593" y="2430463"/>
            <a:ext cx="3366309" cy="1762423"/>
          </a:xfrm>
          <a:custGeom>
            <a:avLst/>
            <a:gdLst/>
            <a:ahLst/>
            <a:cxnLst/>
            <a:rect l="l" t="t" r="r" b="b"/>
            <a:pathLst>
              <a:path w="3366309" h="1762423">
                <a:moveTo>
                  <a:pt x="304792" y="0"/>
                </a:moveTo>
                <a:lnTo>
                  <a:pt x="3061516" y="0"/>
                </a:lnTo>
                <a:arcTo wR="304792" hR="304800" stAng="16200000" swAng="5400000"/>
                <a:lnTo>
                  <a:pt x="3366309" y="1457623"/>
                </a:lnTo>
                <a:arcTo wR="304792" hR="304800" stAng="0" swAng="5400000"/>
                <a:lnTo>
                  <a:pt x="76198" y="1762423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1C36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229788" y="2589530"/>
            <a:ext cx="2959919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0"/>
              </a:rPr>
              <a:t>Waiting Time (WT)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229788" y="3026073"/>
            <a:ext cx="295991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Waiting Time = Turnaround Time − Burst Time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229788" y="3647261"/>
            <a:ext cx="2959919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Total periods spent in ready queue waiting for CPU.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7987" y="4345285"/>
            <a:ext cx="3366210" cy="1762423"/>
          </a:xfrm>
          <a:custGeom>
            <a:avLst/>
            <a:gdLst/>
            <a:ahLst/>
            <a:cxnLst/>
            <a:rect l="l" t="t" r="r" b="b"/>
            <a:pathLst>
              <a:path w="3366210" h="1762423">
                <a:moveTo>
                  <a:pt x="304792" y="0"/>
                </a:moveTo>
                <a:lnTo>
                  <a:pt x="3061417" y="0"/>
                </a:lnTo>
                <a:arcTo wR="304792" hR="304800" stAng="16200000" swAng="5400000"/>
                <a:lnTo>
                  <a:pt x="3366210" y="1457623"/>
                </a:lnTo>
                <a:arcTo wR="304792" hR="304800" stAng="0" swAng="5400000"/>
                <a:lnTo>
                  <a:pt x="76198" y="1762423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1C36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1182" y="4504353"/>
            <a:ext cx="295982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0"/>
              </a:rPr>
              <a:t>Response Time (RT)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11182" y="4940895"/>
            <a:ext cx="295982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Response Time = First CPU Start Time − Arrival Time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11182" y="5562084"/>
            <a:ext cx="316301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Time elapsed before initial execution starts.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026593" y="4345285"/>
            <a:ext cx="3366309" cy="1762423"/>
          </a:xfrm>
          <a:custGeom>
            <a:avLst/>
            <a:gdLst/>
            <a:ahLst/>
            <a:cxnLst/>
            <a:rect l="l" t="t" r="r" b="b"/>
            <a:pathLst>
              <a:path w="3366309" h="1762423">
                <a:moveTo>
                  <a:pt x="304792" y="0"/>
                </a:moveTo>
                <a:lnTo>
                  <a:pt x="3061516" y="0"/>
                </a:lnTo>
                <a:arcTo wR="304792" hR="304800" stAng="16200000" swAng="5400000"/>
                <a:lnTo>
                  <a:pt x="3366309" y="1457623"/>
                </a:lnTo>
                <a:arcTo wR="304792" hR="304800" stAng="0" swAng="5400000"/>
                <a:lnTo>
                  <a:pt x="76198" y="1762423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1C36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229788" y="4504353"/>
            <a:ext cx="2959919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0"/>
              </a:rPr>
              <a:t>CPU Utilization &amp; Throughput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229788" y="4940895"/>
            <a:ext cx="295991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CPU Utilization = (Busy CPU Time / Total Timeline Length) × 100%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229788" y="5562084"/>
            <a:ext cx="2959919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Throughput = Completed Processes / Total Time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97595" y="2430463"/>
            <a:ext cx="3986113" cy="3677245"/>
          </a:xfrm>
          <a:custGeom>
            <a:avLst/>
            <a:gdLst/>
            <a:ahLst/>
            <a:cxnLst/>
            <a:rect l="l" t="t" r="r" b="b"/>
            <a:pathLst>
              <a:path w="3986113" h="3677245">
                <a:moveTo>
                  <a:pt x="304792" y="0"/>
                </a:moveTo>
                <a:lnTo>
                  <a:pt x="3681320" y="0"/>
                </a:lnTo>
                <a:arcTo wR="304792" hR="304800" stAng="16200000" swAng="5400000"/>
                <a:lnTo>
                  <a:pt x="3986113" y="3372445"/>
                </a:lnTo>
                <a:arcTo wR="304792" hR="304800" stAng="0" swAng="5400000"/>
                <a:lnTo>
                  <a:pt x="76198" y="3677245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1C36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951589" y="3279279"/>
            <a:ext cx="373211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WORKED TRACE: P2 ON FCFS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951589" y="3592016"/>
            <a:ext cx="373211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Arrival: </a:t>
            </a:r>
            <a:r>
              <a:rPr lang="en-US" sz="14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1</a:t>
            </a: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 · Start: </a:t>
            </a:r>
            <a:r>
              <a:rPr lang="en-US" sz="14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5</a:t>
            </a: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 · Burst: </a:t>
            </a:r>
            <a:r>
              <a:rPr lang="en-US" sz="14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3</a:t>
            </a: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 · Completion: </a:t>
            </a:r>
            <a:r>
              <a:rPr lang="en-US" sz="14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8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951589" y="4010720"/>
            <a:ext cx="3478125" cy="31651"/>
          </a:xfrm>
          <a:prstGeom prst="roundRect">
            <a:avLst>
              <a:gd name="adj" fmla="val 49998"/>
            </a:avLst>
          </a:prstGeom>
          <a:solidFill>
            <a:srgbClr val="2E55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951589" y="4263132"/>
            <a:ext cx="347812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Turnaround: </a:t>
            </a:r>
            <a:r>
              <a:rPr lang="en-US" sz="14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8 − 1 = 7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951589" y="4613573"/>
            <a:ext cx="347812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Waiting: </a:t>
            </a:r>
            <a:r>
              <a:rPr lang="en-US" sz="14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7 − 3 = 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951589" y="4964013"/>
            <a:ext cx="347812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Response: </a:t>
            </a:r>
            <a:r>
              <a:rPr lang="en-US" sz="14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5 − 1 = 4</a:t>
            </a:r>
            <a:endParaRPr lang="en-US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271AA22-702E-7246-1852-377883E728FB}"/>
              </a:ext>
            </a:extLst>
          </p:cNvPr>
          <p:cNvSpPr/>
          <p:nvPr/>
        </p:nvSpPr>
        <p:spPr>
          <a:xfrm>
            <a:off x="11014841" y="6568966"/>
            <a:ext cx="1176854" cy="289034"/>
          </a:xfrm>
          <a:prstGeom prst="rect">
            <a:avLst/>
          </a:prstGeom>
          <a:solidFill>
            <a:srgbClr val="1127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058962"/>
            <a:ext cx="1173450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COMPARATIVE EXECUTION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189" y="1353465"/>
            <a:ext cx="11277318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0"/>
              </a:rPr>
              <a:t>The same three processes look very different on the timeline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2480370"/>
            <a:ext cx="11277318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189" y="2921377"/>
            <a:ext cx="1173450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Sample Workload: </a:t>
            </a:r>
            <a:r>
              <a:rPr lang="en-US" sz="1200" b="1" dirty="0">
                <a:solidFill>
                  <a:srgbClr val="A9BFC9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P1</a:t>
            </a:r>
            <a:r>
              <a:rPr lang="en-US" sz="12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 (Arrival 0, Burst 5, Priority 1) · </a:t>
            </a:r>
            <a:r>
              <a:rPr lang="en-US" sz="1200" b="1" dirty="0">
                <a:solidFill>
                  <a:srgbClr val="A9BFC9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P2</a:t>
            </a:r>
            <a:r>
              <a:rPr lang="en-US" sz="12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 (Arrival 1, Burst 3, Priority 2) · </a:t>
            </a:r>
            <a:r>
              <a:rPr lang="en-US" sz="1200" b="1" dirty="0">
                <a:solidFill>
                  <a:srgbClr val="A9BFC9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P3</a:t>
            </a:r>
            <a:r>
              <a:rPr lang="en-US" sz="12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 (Arrival 2, Burst 4, Priority 1) · </a:t>
            </a:r>
            <a:r>
              <a:rPr lang="en-US" sz="1200" b="1" dirty="0">
                <a:solidFill>
                  <a:srgbClr val="A9BFC9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RR Quantum = 2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9" y="3243560"/>
            <a:ext cx="11277318" cy="19354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189" y="5306020"/>
            <a:ext cx="365750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FCFS:</a:t>
            </a: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 Follows arrival order.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267093" y="5306020"/>
            <a:ext cx="365750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SRTF:</a:t>
            </a: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 Interrupts P1 when P2 arrives with less work left (3 &lt; 4).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076998" y="5306020"/>
            <a:ext cx="365750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Round Robin:</a:t>
            </a: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 Gives fixed slices; idle gaps appear as their own IDLE blocks (none in this workload).</a:t>
            </a:r>
            <a:endParaRPr lang="en-US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04B2E2-EAD5-536C-B33C-1A626CA54FEC}"/>
              </a:ext>
            </a:extLst>
          </p:cNvPr>
          <p:cNvSpPr/>
          <p:nvPr/>
        </p:nvSpPr>
        <p:spPr>
          <a:xfrm>
            <a:off x="11014841" y="6568966"/>
            <a:ext cx="1176854" cy="289034"/>
          </a:xfrm>
          <a:prstGeom prst="rect">
            <a:avLst/>
          </a:prstGeom>
          <a:solidFill>
            <a:srgbClr val="1127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60363"/>
            <a:ext cx="1173450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PERFORMANCE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189" y="654866"/>
            <a:ext cx="11277318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0"/>
              </a:rPr>
              <a:t>SRTF waits least; Round Robin responds fastest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1781770"/>
            <a:ext cx="11277318" cy="254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9" y="2668290"/>
            <a:ext cx="6476838" cy="2921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189" y="5674697"/>
            <a:ext cx="658349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Sample evaluation workload (3 processes) · Graph values in time units.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45377" y="2689423"/>
          <a:ext cx="4389129" cy="2285645"/>
        </p:xfrm>
        <a:graphic>
          <a:graphicData uri="http://schemas.openxmlformats.org/drawingml/2006/table">
            <a:tbl>
              <a:tblPr/>
              <a:tblGrid>
                <a:gridCol w="1975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5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9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Policy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Avg WT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Avg RT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SRTF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43D4C3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3.00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2.00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Round Robin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5.67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9BE15D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1.00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FCFS / SJF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3.33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—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9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Priority (NP/P)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3.67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0"/>
                        </a:rPr>
                        <a:t>—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7345377" y="5102126"/>
            <a:ext cx="4389129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Round Robin achieves the fastest initial response (1.00) but pays with higher waiting (5.67) and turnaround (9.67). Results reflect this test workload rather than universal rank.</a:t>
            </a:r>
            <a:endParaRPr lang="en-US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87D38F-0F4D-D714-DFBC-69F645CEA0A0}"/>
              </a:ext>
            </a:extLst>
          </p:cNvPr>
          <p:cNvSpPr/>
          <p:nvPr/>
        </p:nvSpPr>
        <p:spPr>
          <a:xfrm>
            <a:off x="11014841" y="6568966"/>
            <a:ext cx="1176854" cy="289034"/>
          </a:xfrm>
          <a:prstGeom prst="rect">
            <a:avLst/>
          </a:prstGeom>
          <a:solidFill>
            <a:srgbClr val="1127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11163"/>
            <a:ext cx="116329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VERIFICATION &amp; CONSTRAINTS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786" y="705666"/>
            <a:ext cx="11074123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0"/>
              </a:rPr>
              <a:t>39 automated tests passed; limits are stated plainly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1832570"/>
            <a:ext cx="11074123" cy="254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8786" y="2188964"/>
            <a:ext cx="3386549" cy="4160341"/>
          </a:xfrm>
          <a:custGeom>
            <a:avLst/>
            <a:gdLst/>
            <a:ahLst/>
            <a:cxnLst/>
            <a:rect l="l" t="t" r="r" b="b"/>
            <a:pathLst>
              <a:path w="3386549" h="4160341">
                <a:moveTo>
                  <a:pt x="304792" y="0"/>
                </a:moveTo>
                <a:lnTo>
                  <a:pt x="3081756" y="0"/>
                </a:lnTo>
                <a:arcTo wR="304792" hR="304800" stAng="16200000" swAng="5400000"/>
                <a:lnTo>
                  <a:pt x="3386549" y="3855541"/>
                </a:lnTo>
                <a:arcTo wR="304792" hR="304800" stAng="0" swAng="5400000"/>
                <a:lnTo>
                  <a:pt x="76198" y="4160341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1C36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38179" y="2513068"/>
            <a:ext cx="2827763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kern="100" spc="-96" dirty="0">
                <a:solidFill>
                  <a:srgbClr val="43D4C3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0"/>
              </a:rPr>
              <a:t>39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38179" y="3179882"/>
            <a:ext cx="2827763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0"/>
              </a:rPr>
              <a:t>Automated Tests Passed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38179" y="3616424"/>
            <a:ext cx="2827763" cy="247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Cover algorithms and metrics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Cover invalid inputs and empty input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Cover duplicate IDs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Cover identical arrivals and idle gaps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Deterministic tie-breaking gives repeatable schedules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402523" y="2188964"/>
            <a:ext cx="3386549" cy="4160341"/>
          </a:xfrm>
          <a:custGeom>
            <a:avLst/>
            <a:gdLst/>
            <a:ahLst/>
            <a:cxnLst/>
            <a:rect l="l" t="t" r="r" b="b"/>
            <a:pathLst>
              <a:path w="3386549" h="4160341">
                <a:moveTo>
                  <a:pt x="304792" y="0"/>
                </a:moveTo>
                <a:lnTo>
                  <a:pt x="3081756" y="0"/>
                </a:lnTo>
                <a:arcTo wR="304792" hR="304800" stAng="16200000" swAng="5400000"/>
                <a:lnTo>
                  <a:pt x="3386549" y="3855541"/>
                </a:lnTo>
                <a:arcTo wR="304792" hR="304800" stAng="0" swAng="5400000"/>
                <a:lnTo>
                  <a:pt x="76198" y="4160341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1C36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681916" y="2449632"/>
            <a:ext cx="2827763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 Medium" pitchFamily="34" charset="0"/>
                <a:ea typeface="Cabin Medium" pitchFamily="34" charset="-122"/>
                <a:cs typeface="Cabin Medium" pitchFamily="34" charset="0"/>
              </a:rPr>
              <a:t>Challenges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681916" y="2886174"/>
            <a:ext cx="2827763" cy="1523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Preemptive algorithms and Round Robin queue ordering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Consistent tie resolution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Python without Tkinter on macOS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46261" y="2188964"/>
            <a:ext cx="3386648" cy="4160341"/>
          </a:xfrm>
          <a:custGeom>
            <a:avLst/>
            <a:gdLst/>
            <a:ahLst/>
            <a:cxnLst/>
            <a:rect l="l" t="t" r="r" b="b"/>
            <a:pathLst>
              <a:path w="3386648" h="4160341">
                <a:moveTo>
                  <a:pt x="304792" y="0"/>
                </a:moveTo>
                <a:lnTo>
                  <a:pt x="3081856" y="0"/>
                </a:lnTo>
                <a:arcTo wR="304792" hR="304800" stAng="16200000" swAng="5400000"/>
                <a:lnTo>
                  <a:pt x="3386648" y="3855541"/>
                </a:lnTo>
                <a:arcTo wR="304792" hR="304800" stAng="0" swAng="5400000"/>
                <a:lnTo>
                  <a:pt x="76198" y="4160341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1C36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525654" y="2449632"/>
            <a:ext cx="282786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0"/>
              </a:rPr>
              <a:t>Limitations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525654" y="2886174"/>
            <a:ext cx="2827862" cy="1808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Single CPU, whole-number time units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No context-switch overhead or I/O waiting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Textbook model, not a real kernel</a:t>
            </a:r>
            <a:endParaRPr lang="en-US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960289-395B-7E9B-689F-EB438CB1A9DD}"/>
              </a:ext>
            </a:extLst>
          </p:cNvPr>
          <p:cNvSpPr/>
          <p:nvPr/>
        </p:nvSpPr>
        <p:spPr>
          <a:xfrm>
            <a:off x="11014841" y="6568966"/>
            <a:ext cx="1176854" cy="289034"/>
          </a:xfrm>
          <a:prstGeom prst="rect">
            <a:avLst/>
          </a:prstGeom>
          <a:solidFill>
            <a:srgbClr val="1127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207963"/>
            <a:ext cx="116329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0"/>
              </a:rPr>
              <a:t>PROJECT SUMMARY &amp; OUTLOOK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786" y="502466"/>
            <a:ext cx="11074123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0"/>
              </a:rPr>
              <a:t>Six policies, automated charts, and a tested core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1629370"/>
            <a:ext cx="11074123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8786" y="2219206"/>
            <a:ext cx="5308467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0"/>
              </a:rPr>
              <a:t>Conclusion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58786" y="2719189"/>
            <a:ext cx="5308467" cy="1290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Demonstrates six CPU scheduling policies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Automates Gantt charts and metric calculations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Gives per-process results and algorithm comparisons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Modular design with automated testing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58786" y="4202787"/>
            <a:ext cx="5308467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0"/>
              </a:rPr>
              <a:t>Future scope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58786" y="4702770"/>
            <a:ext cx="5308467" cy="1625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Multilevel Queue and Multilevel Feedback Queue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Context-switch overhead and priority aging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CSV import and result export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Animated visualization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Multi-core scheduling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24442" y="1981398"/>
            <a:ext cx="5308467" cy="4575473"/>
          </a:xfrm>
          <a:custGeom>
            <a:avLst/>
            <a:gdLst/>
            <a:ahLst/>
            <a:cxnLst/>
            <a:rect l="l" t="t" r="r" b="b"/>
            <a:pathLst>
              <a:path w="5308467" h="4575473">
                <a:moveTo>
                  <a:pt x="304792" y="0"/>
                </a:moveTo>
                <a:lnTo>
                  <a:pt x="5003675" y="0"/>
                </a:lnTo>
                <a:arcTo wR="304792" hR="304800" stAng="16200000" swAng="5400000"/>
                <a:lnTo>
                  <a:pt x="5308467" y="4270673"/>
                </a:lnTo>
                <a:arcTo wR="304792" hR="304800" stAng="0" swAng="5400000"/>
                <a:lnTo>
                  <a:pt x="76198" y="4575473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1C36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553036" y="2191266"/>
            <a:ext cx="4851279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0"/>
              </a:rPr>
              <a:t>References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553036" y="2627809"/>
            <a:ext cx="4851279" cy="247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Silberschatz, Galvin and Gagne, </a:t>
            </a:r>
            <a:r>
              <a:rPr lang="en-US" sz="1600" i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Operating System Concepts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Tanenbaum and Bos, </a:t>
            </a:r>
            <a:r>
              <a:rPr lang="en-US" sz="1600" i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Modern Operating Systems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Arpaci-Dusseau and Arpaci-Dusseau, </a:t>
            </a:r>
            <a:r>
              <a:rPr lang="en-US" sz="1600" i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Operating Systems: Three Easy Pieces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Liu and Layland, </a:t>
            </a:r>
            <a:r>
              <a:rPr lang="en-US" sz="1600" i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Scheduling Algorithms for Multiprogramming in a Hard-Real-Time Environment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0"/>
              </a:rPr>
              <a:t>Linux kernel scheduler documentation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53036" y="5300047"/>
            <a:ext cx="4851279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200" dirty="0">
                <a:solidFill>
                  <a:srgbClr val="9BE15D"/>
                </a:solidFill>
                <a:latin typeface="Cabin Medium" pitchFamily="34" charset="0"/>
                <a:ea typeface="Cabin Medium" pitchFamily="34" charset="-122"/>
                <a:cs typeface="Cabin Medium" pitchFamily="34" charset="0"/>
              </a:rPr>
              <a:t>Thank You — Questions?</a:t>
            </a:r>
            <a:endParaRPr lang="en-US" sz="2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352B85-F204-A2BA-9E45-9D7792FC5EE0}"/>
              </a:ext>
            </a:extLst>
          </p:cNvPr>
          <p:cNvSpPr/>
          <p:nvPr/>
        </p:nvSpPr>
        <p:spPr>
          <a:xfrm>
            <a:off x="11014841" y="6568966"/>
            <a:ext cx="1176854" cy="289034"/>
          </a:xfrm>
          <a:prstGeom prst="rect">
            <a:avLst/>
          </a:prstGeom>
          <a:solidFill>
            <a:srgbClr val="1127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1222</Words>
  <Application>Microsoft Macintosh PowerPoint</Application>
  <PresentationFormat>Widescreen</PresentationFormat>
  <Paragraphs>189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Cabin SemiBold</vt:lpstr>
      <vt:lpstr>Unbounded Medium</vt:lpstr>
      <vt:lpstr>Cabin</vt:lpstr>
      <vt:lpstr>Cabin Bold</vt:lpstr>
      <vt:lpstr>Cabin Medium</vt:lpstr>
      <vt:lpstr>Consolas</vt:lpstr>
      <vt:lpstr>Arial</vt:lpstr>
      <vt:lpstr>Unbounded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Inesh Ingid</cp:lastModifiedBy>
  <cp:revision>2</cp:revision>
  <dcterms:created xsi:type="dcterms:W3CDTF">2026-10-22T06:52:35Z</dcterms:created>
  <dcterms:modified xsi:type="dcterms:W3CDTF">2026-10-22T06:55:09Z</dcterms:modified>
</cp:coreProperties>
</file>